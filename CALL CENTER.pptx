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3"/>
  </p:notesMasterIdLst>
  <p:sldIdLst>
    <p:sldId id="279" r:id="rId5"/>
    <p:sldId id="280" r:id="rId6"/>
    <p:sldId id="281" r:id="rId7"/>
    <p:sldId id="282" r:id="rId8"/>
    <p:sldId id="284" r:id="rId9"/>
    <p:sldId id="283" r:id="rId10"/>
    <p:sldId id="285" r:id="rId11"/>
    <p:sldId id="28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E8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a kadam" userId="1bdf6d61d7534e12" providerId="LiveId" clId="{9A57E223-D9DB-4E1C-AE32-5FE55FB1AF3A}"/>
    <pc:docChg chg="modSld">
      <pc:chgData name="harsha kadam" userId="1bdf6d61d7534e12" providerId="LiveId" clId="{9A57E223-D9DB-4E1C-AE32-5FE55FB1AF3A}" dt="2025-10-30T05:21:35.576" v="7" actId="20577"/>
      <pc:docMkLst>
        <pc:docMk/>
      </pc:docMkLst>
      <pc:sldChg chg="modSp mod">
        <pc:chgData name="harsha kadam" userId="1bdf6d61d7534e12" providerId="LiveId" clId="{9A57E223-D9DB-4E1C-AE32-5FE55FB1AF3A}" dt="2025-10-30T05:21:04.184" v="3" actId="20577"/>
        <pc:sldMkLst>
          <pc:docMk/>
          <pc:sldMk cId="3220235682" sldId="279"/>
        </pc:sldMkLst>
        <pc:spChg chg="mod">
          <ac:chgData name="harsha kadam" userId="1bdf6d61d7534e12" providerId="LiveId" clId="{9A57E223-D9DB-4E1C-AE32-5FE55FB1AF3A}" dt="2025-10-30T05:21:04.184" v="3" actId="20577"/>
          <ac:spMkLst>
            <pc:docMk/>
            <pc:sldMk cId="3220235682" sldId="279"/>
            <ac:spMk id="11" creationId="{4BFDA86E-F021-56C8-48F3-B9A8154BC88C}"/>
          </ac:spMkLst>
        </pc:spChg>
      </pc:sldChg>
      <pc:sldChg chg="modSp mod">
        <pc:chgData name="harsha kadam" userId="1bdf6d61d7534e12" providerId="LiveId" clId="{9A57E223-D9DB-4E1C-AE32-5FE55FB1AF3A}" dt="2025-10-30T05:21:35.576" v="7" actId="20577"/>
        <pc:sldMkLst>
          <pc:docMk/>
          <pc:sldMk cId="2203019640" sldId="281"/>
        </pc:sldMkLst>
        <pc:spChg chg="mod">
          <ac:chgData name="harsha kadam" userId="1bdf6d61d7534e12" providerId="LiveId" clId="{9A57E223-D9DB-4E1C-AE32-5FE55FB1AF3A}" dt="2025-10-30T05:21:35.576" v="7" actId="20577"/>
          <ac:spMkLst>
            <pc:docMk/>
            <pc:sldMk cId="2203019640" sldId="281"/>
            <ac:spMk id="3" creationId="{AB2FEDF5-1D88-0B53-8809-2CF54CCC9AA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10/30/2025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8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2" y="10"/>
            <a:ext cx="12192001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3782" y="267442"/>
            <a:ext cx="7002322" cy="1465006"/>
          </a:xfrm>
        </p:spPr>
        <p:txBody>
          <a:bodyPr anchor="b">
            <a:normAutofit/>
          </a:bodyPr>
          <a:lstStyle/>
          <a:p>
            <a:pPr algn="l"/>
            <a:br>
              <a:rPr lang="en-US" sz="4000" dirty="0">
                <a:latin typeface="Algerian" panose="04020705040A02060702" pitchFamily="82" charset="0"/>
              </a:rPr>
            </a:br>
            <a:r>
              <a:rPr lang="en-US" sz="4000" dirty="0"/>
              <a:t>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50"/>
            <a:ext cx="100075" cy="125848"/>
          </a:xfrm>
        </p:spPr>
        <p:txBody>
          <a:bodyPr anchor="t">
            <a:normAutofit fontScale="25000" lnSpcReduction="20000"/>
          </a:bodyPr>
          <a:lstStyle/>
          <a:p>
            <a:pPr marL="36900" lvl="0" indent="0">
              <a:buNone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E436A0-1A11-77E2-AEB1-4642458880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" y="-1"/>
            <a:ext cx="12200638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FDA86E-F021-56C8-48F3-B9A8154BC88C}"/>
              </a:ext>
            </a:extLst>
          </p:cNvPr>
          <p:cNvSpPr txBox="1"/>
          <p:nvPr/>
        </p:nvSpPr>
        <p:spPr>
          <a:xfrm>
            <a:off x="5336839" y="237066"/>
            <a:ext cx="69317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</a:rPr>
              <a:t>CALL CENTRE DASHBOARD</a:t>
            </a:r>
          </a:p>
          <a:p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</a:rPr>
              <a:t>PRESENTED BY : HARSHA KADAM</a:t>
            </a:r>
            <a:endParaRPr lang="en-IN" sz="32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8B4FB-FD77-5C49-377E-FBD259C7D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57300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Algerian" panose="04020705040A02060702" pitchFamily="82" charset="0"/>
              </a:rPr>
              <a:t>INTRODUCTION </a:t>
            </a:r>
            <a:endParaRPr lang="en-IN" dirty="0">
              <a:solidFill>
                <a:schemeClr val="tx1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64B2F-CED7-214D-15E6-EA7FDAABF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7300"/>
            <a:ext cx="12192000" cy="5600700"/>
          </a:xfrm>
        </p:spPr>
        <p:txBody>
          <a:bodyPr/>
          <a:lstStyle/>
          <a:p>
            <a:r>
              <a:rPr lang="en-US" sz="36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The </a:t>
            </a:r>
            <a:r>
              <a:rPr lang="en-US" sz="3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Call Centre Dashboard</a:t>
            </a:r>
            <a:r>
              <a:rPr lang="en-US" sz="36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 provides a comprehensive analysis of customer interaction data collected through multiple communication channels. It helps monitor the </a:t>
            </a:r>
            <a:r>
              <a:rPr lang="en-US" sz="3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performance, productivity, and customer satisfaction</a:t>
            </a:r>
            <a:r>
              <a:rPr lang="en-US" sz="36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 levels of call center operations.</a:t>
            </a:r>
            <a:br>
              <a:rPr lang="en-US" sz="36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en-US" sz="36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This Power BI dashboard visually represents important call metrics such as total calls, duration, sentiment, and reasons for contact across different states and days.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0427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97889-2ECB-7702-13AA-7F0F3792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7989"/>
            <a:ext cx="12192000" cy="55060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tx1">
                    <a:lumMod val="85000"/>
                  </a:schemeClr>
                </a:solidFill>
                <a:latin typeface="Algerian" panose="04020705040A02060702" pitchFamily="82" charset="0"/>
              </a:rPr>
              <a:t>Dataset information</a:t>
            </a:r>
            <a:endParaRPr lang="en-IN" sz="4400" dirty="0">
              <a:solidFill>
                <a:schemeClr val="tx1">
                  <a:lumMod val="8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2FEDF5-1D88-0B53-8809-2CF54CCC9A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68595"/>
            <a:ext cx="12192000" cy="618940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DATASET NAME : Call Centre Data</a:t>
            </a:r>
          </a:p>
          <a:p>
            <a:pPr algn="l"/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SOURCE : Public Dataset Kaggle</a:t>
            </a:r>
          </a:p>
          <a:p>
            <a:pPr algn="l"/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KEY COLUMNS : </a:t>
            </a: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Call ID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 </a:t>
            </a:r>
          </a:p>
          <a:p>
            <a:pPr algn="l"/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                         Date</a:t>
            </a:r>
          </a:p>
          <a:p>
            <a:pPr algn="l"/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                         Day</a:t>
            </a:r>
          </a:p>
          <a:p>
            <a:pPr algn="l"/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                         State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 </a:t>
            </a:r>
          </a:p>
          <a:p>
            <a:pPr algn="l"/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                         City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 </a:t>
            </a:r>
          </a:p>
          <a:p>
            <a:pPr algn="l"/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                         Channel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 </a:t>
            </a:r>
          </a:p>
          <a:p>
            <a:pPr algn="l"/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                         Call Duration (min/</a:t>
            </a:r>
            <a:r>
              <a:rPr lang="en-US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hr</a:t>
            </a: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)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  <a:latin typeface="Bahnschrift SemiBold Condensed" panose="020B0502040204020203" pitchFamily="34" charset="0"/>
            </a:endParaRPr>
          </a:p>
          <a:p>
            <a:pPr algn="l"/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                         Reason for Call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 </a:t>
            </a:r>
          </a:p>
          <a:p>
            <a:pPr algn="l"/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                         Sentiment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 </a:t>
            </a:r>
          </a:p>
          <a:p>
            <a:pPr algn="l"/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                         Response Time (%)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  <a:latin typeface="Bahnschrift SemiBold Condensed" panose="020B0502040204020203" pitchFamily="34" charset="0"/>
            </a:endParaRPr>
          </a:p>
          <a:p>
            <a:pPr algn="l"/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                         Call Centre Name</a:t>
            </a: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019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10028-08BB-2FC1-E759-B0F356A99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94735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>
                    <a:lumMod val="85000"/>
                  </a:schemeClr>
                </a:solidFill>
                <a:latin typeface="Algerian" panose="04020705040A02060702" pitchFamily="82" charset="0"/>
              </a:rPr>
              <a:t>PROBLEM STATEMENT</a:t>
            </a:r>
            <a:endParaRPr lang="en-IN" sz="4400" dirty="0">
              <a:solidFill>
                <a:schemeClr val="tx1">
                  <a:lumMod val="8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262C9-3010-1B6C-2AFC-A99B72CB2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96413"/>
            <a:ext cx="12192000" cy="606158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KPI REQUIREMENTS 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rgbClr val="76E8CA"/>
                </a:solidFill>
                <a:latin typeface="Bahnschrift SemiBold Condensed" panose="020B0502040204020203" pitchFamily="34" charset="0"/>
              </a:rPr>
              <a:t>Total Calls :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 Measure overall customer engagement volume.</a:t>
            </a:r>
          </a:p>
          <a:p>
            <a:r>
              <a:rPr lang="en-US" sz="2000" dirty="0">
                <a:solidFill>
                  <a:srgbClr val="76E8CA"/>
                </a:solidFill>
                <a:latin typeface="Bahnschrift SemiBold Condensed" panose="020B0502040204020203" pitchFamily="34" charset="0"/>
              </a:rPr>
              <a:t>Total Call Duration (</a:t>
            </a:r>
            <a:r>
              <a:rPr lang="en-US" sz="2000" dirty="0" err="1">
                <a:solidFill>
                  <a:srgbClr val="76E8CA"/>
                </a:solidFill>
                <a:latin typeface="Bahnschrift SemiBold Condensed" panose="020B0502040204020203" pitchFamily="34" charset="0"/>
              </a:rPr>
              <a:t>hrs</a:t>
            </a:r>
            <a:r>
              <a:rPr lang="en-US" sz="2000" dirty="0">
                <a:solidFill>
                  <a:srgbClr val="76E8CA"/>
                </a:solidFill>
                <a:latin typeface="Bahnschrift SemiBold Condensed" panose="020B0502040204020203" pitchFamily="34" charset="0"/>
              </a:rPr>
              <a:t>/min) :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Evaluate workload and handling time.</a:t>
            </a:r>
          </a:p>
          <a:p>
            <a:r>
              <a:rPr lang="en-US" sz="2000" dirty="0">
                <a:solidFill>
                  <a:srgbClr val="76E8CA"/>
                </a:solidFill>
                <a:latin typeface="Bahnschrift SemiBold Condensed" panose="020B0502040204020203" pitchFamily="34" charset="0"/>
              </a:rPr>
              <a:t>Average Call Duration :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 Determine call handling efficiency.</a:t>
            </a:r>
          </a:p>
          <a:p>
            <a:r>
              <a:rPr lang="en-US" sz="2000" dirty="0">
                <a:solidFill>
                  <a:srgbClr val="76E8CA"/>
                </a:solidFill>
                <a:latin typeface="Bahnschrift SemiBold Condensed" panose="020B0502040204020203" pitchFamily="34" charset="0"/>
              </a:rPr>
              <a:t>Response Time % :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Assess service promptness.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CHART REQUIREMENTS</a:t>
            </a:r>
          </a:p>
          <a:p>
            <a:r>
              <a:rPr lang="en-US" sz="2000" b="1" dirty="0">
                <a:solidFill>
                  <a:srgbClr val="76E8CA"/>
                </a:solidFill>
                <a:latin typeface="Bahnschrift SemiBold Condensed" panose="020B0502040204020203" pitchFamily="34" charset="0"/>
              </a:rPr>
              <a:t>Total Calls by Day</a:t>
            </a:r>
            <a:r>
              <a:rPr lang="en-US" sz="2000" dirty="0">
                <a:solidFill>
                  <a:srgbClr val="76E8CA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– Identify which days have the highest or lowest call volumes.</a:t>
            </a:r>
          </a:p>
          <a:p>
            <a:r>
              <a:rPr lang="en-US" sz="2000" b="1" dirty="0">
                <a:solidFill>
                  <a:srgbClr val="76E8CA"/>
                </a:solidFill>
                <a:latin typeface="Bahnschrift SemiBold Condensed" panose="020B0502040204020203" pitchFamily="34" charset="0"/>
              </a:rPr>
              <a:t>Total Calls by State</a:t>
            </a:r>
            <a:r>
              <a:rPr lang="en-US" sz="2000" dirty="0">
                <a:solidFill>
                  <a:srgbClr val="76E8CA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– Visualize geographical distribution of calls.</a:t>
            </a:r>
          </a:p>
          <a:p>
            <a:r>
              <a:rPr lang="en-US" sz="2000" b="1" dirty="0">
                <a:solidFill>
                  <a:srgbClr val="76E8CA"/>
                </a:solidFill>
                <a:latin typeface="Bahnschrift SemiBold Condensed" panose="020B0502040204020203" pitchFamily="34" charset="0"/>
              </a:rPr>
              <a:t>Total Calls by Reason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– Analyze top reasons customers contact the </a:t>
            </a:r>
            <a:r>
              <a:rPr lang="en-US" sz="20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centre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.</a:t>
            </a:r>
          </a:p>
          <a:p>
            <a:r>
              <a:rPr lang="en-US" sz="2000" b="1" dirty="0">
                <a:solidFill>
                  <a:srgbClr val="76E8CA"/>
                </a:solidFill>
                <a:latin typeface="Bahnschrift SemiBold Condensed" panose="020B0502040204020203" pitchFamily="34" charset="0"/>
              </a:rPr>
              <a:t>Total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2000" b="1" dirty="0">
                <a:solidFill>
                  <a:srgbClr val="76E8CA"/>
                </a:solidFill>
                <a:latin typeface="Bahnschrift SemiBold Condensed" panose="020B0502040204020203" pitchFamily="34" charset="0"/>
              </a:rPr>
              <a:t>Calls by Channel</a:t>
            </a:r>
            <a:r>
              <a:rPr lang="en-US" sz="2000" dirty="0">
                <a:solidFill>
                  <a:srgbClr val="76E8CA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– Compare communication preferences (Call, Email, Web, Chatbot).</a:t>
            </a:r>
          </a:p>
          <a:p>
            <a:r>
              <a:rPr lang="en-US" sz="2000" b="1" dirty="0">
                <a:solidFill>
                  <a:srgbClr val="76E8CA"/>
                </a:solidFill>
                <a:latin typeface="Bahnschrift SemiBold Condensed" panose="020B0502040204020203" pitchFamily="34" charset="0"/>
              </a:rPr>
              <a:t>Total Calls by Sentiment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 – Evaluate customer satisfaction and emotional tone.</a:t>
            </a:r>
          </a:p>
          <a:p>
            <a:r>
              <a:rPr lang="en-US" sz="2000" b="1" dirty="0">
                <a:solidFill>
                  <a:srgbClr val="76E8CA"/>
                </a:solidFill>
                <a:latin typeface="Bahnschrift SemiBold Condensed" panose="020B0502040204020203" pitchFamily="34" charset="0"/>
              </a:rPr>
              <a:t>Total Calls by Call Centre</a:t>
            </a:r>
            <a:r>
              <a:rPr lang="en-US" sz="2000" dirty="0">
                <a:solidFill>
                  <a:srgbClr val="76E8CA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– Compare performance among different call </a:t>
            </a:r>
            <a:r>
              <a:rPr lang="en-US" sz="20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centre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9331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D6A55A-E15A-FAE1-E8DF-FD44A6D47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535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43FE9-74AB-76AA-1EBE-22C8C084F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406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75000"/>
                  </a:schemeClr>
                </a:solidFill>
                <a:latin typeface="Algerian" panose="04020705040A02060702" pitchFamily="82" charset="0"/>
              </a:rPr>
              <a:t>KEY FINDINGS</a:t>
            </a:r>
            <a:endParaRPr lang="en-IN" sz="3600" dirty="0">
              <a:solidFill>
                <a:schemeClr val="tx1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B7249-9D69-6183-2CCB-842D1CAE7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34066"/>
            <a:ext cx="12192000" cy="5923934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High call load</a:t>
            </a: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 observed on Thursdays and Fridays.</a:t>
            </a:r>
          </a:p>
          <a:p>
            <a:pPr algn="l"/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Billing queries</a:t>
            </a: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 are the main reason for calls, indicating potential billing confusion or issues.</a:t>
            </a:r>
          </a:p>
          <a:p>
            <a:pPr algn="l"/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Negative sentiment</a:t>
            </a: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 is notably higher — a key area for service quality improvement.</a:t>
            </a:r>
          </a:p>
          <a:p>
            <a:pPr algn="l"/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Los Angeles and Baltimore </a:t>
            </a: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centres</a:t>
            </a: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 handle the bulk of customer calls — they may require more staffing or automation support.</a:t>
            </a:r>
          </a:p>
          <a:p>
            <a:pPr algn="l"/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Call duration averages 25 minutes</a:t>
            </a: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, which could indicate complex issues or long handling times.</a:t>
            </a:r>
          </a:p>
          <a:p>
            <a:pPr algn="l"/>
            <a:endParaRPr lang="en-IN" sz="32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190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3936-1518-A311-6E9D-8652823C7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825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CONCLUSION</a:t>
            </a:r>
            <a:endParaRPr lang="en-IN" sz="3600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0EE0D-D6A9-AFE3-C3E3-013651BC0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688260"/>
            <a:ext cx="12192000" cy="6086166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hnschrift SemiBold Condensed" panose="020B0502040204020203" pitchFamily="34" charset="0"/>
              </a:rPr>
              <a:t>The dashboard successfully visualizes and monitors the call </a:t>
            </a:r>
            <a:r>
              <a:rPr lang="en-US" sz="2800" dirty="0" err="1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hnschrift SemiBold Condensed" panose="020B0502040204020203" pitchFamily="34" charset="0"/>
              </a:rPr>
              <a:t>centre’s</a:t>
            </a:r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hnschrift SemiBold Condensed" panose="020B0502040204020203" pitchFamily="34" charset="0"/>
              </a:rPr>
              <a:t> operational metrics.</a:t>
            </a:r>
            <a:b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hnschrift SemiBold Condensed" panose="020B0502040204020203" pitchFamily="34" charset="0"/>
              </a:rPr>
            </a:br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hnschrift SemiBold Condensed" panose="020B0502040204020203" pitchFamily="34" charset="0"/>
              </a:rPr>
              <a:t>It highlights that:</a:t>
            </a:r>
          </a:p>
          <a:p>
            <a:pPr algn="l"/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hnschrift SemiBold Condensed" panose="020B0502040204020203" pitchFamily="34" charset="0"/>
              </a:rPr>
              <a:t>Customer service teams face heavy call traffic mid-to-late week.</a:t>
            </a:r>
          </a:p>
          <a:p>
            <a:pPr algn="l"/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hnschrift SemiBold Condensed" panose="020B0502040204020203" pitchFamily="34" charset="0"/>
              </a:rPr>
              <a:t>Billing-related issues dominate customer concerns.</a:t>
            </a:r>
          </a:p>
          <a:p>
            <a:pPr algn="l"/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hnschrift SemiBold Condensed" panose="020B0502040204020203" pitchFamily="34" charset="0"/>
              </a:rPr>
              <a:t>Sentiment trends point to a need for better communication and faster issue resolution.</a:t>
            </a:r>
          </a:p>
          <a:p>
            <a:pPr algn="l"/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hnschrift SemiBold Condensed" panose="020B0502040204020203" pitchFamily="34" charset="0"/>
              </a:rPr>
              <a:t>Call distribution insights can help </a:t>
            </a:r>
            <a:r>
              <a:rPr lang="en-US" sz="2800" b="1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hnschrift SemiBold Condensed" panose="020B0502040204020203" pitchFamily="34" charset="0"/>
              </a:rPr>
              <a:t>optimize staffing, improve response time</a:t>
            </a:r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hnschrift SemiBold Condensed" panose="020B0502040204020203" pitchFamily="34" charset="0"/>
              </a:rPr>
              <a:t>, and </a:t>
            </a:r>
            <a:r>
              <a:rPr lang="en-US" sz="2800" b="1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hnschrift SemiBold Condensed" panose="020B0502040204020203" pitchFamily="34" charset="0"/>
              </a:rPr>
              <a:t>increase customer satisfaction</a:t>
            </a:r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hnschrift SemiBold Condensed" panose="020B0502040204020203" pitchFamily="34" charset="0"/>
              </a:rPr>
              <a:t>.</a:t>
            </a:r>
          </a:p>
          <a:p>
            <a:pPr algn="l"/>
            <a:endParaRPr lang="en-IN" sz="32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591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1F15-CC28-1D68-9AF4-0CCD3B55C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773" y="2800350"/>
            <a:ext cx="10353762" cy="1257300"/>
          </a:xfrm>
        </p:spPr>
        <p:txBody>
          <a:bodyPr>
            <a:normAutofit/>
          </a:bodyPr>
          <a:lstStyle/>
          <a:p>
            <a:pPr algn="r"/>
            <a:r>
              <a:rPr lang="en-US" sz="4800" dirty="0">
                <a:solidFill>
                  <a:schemeClr val="tx1">
                    <a:lumMod val="85000"/>
                  </a:schemeClr>
                </a:solidFill>
                <a:latin typeface="Algerian" panose="04020705040A02060702" pitchFamily="82" charset="0"/>
              </a:rPr>
              <a:t>THANK YOU</a:t>
            </a:r>
            <a:endParaRPr lang="en-IN" sz="4800" dirty="0">
              <a:solidFill>
                <a:schemeClr val="tx1">
                  <a:lumMod val="85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6129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{3961C6DC-267D-43DB-B427-C5576406909F}tf55705232_win32</Template>
  <TotalTime>67</TotalTime>
  <Words>400</Words>
  <Application>Microsoft Office PowerPoint</Application>
  <PresentationFormat>Widescreen</PresentationFormat>
  <Paragraphs>46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Algerian</vt:lpstr>
      <vt:lpstr>Bahnschrift SemiBold Condensed</vt:lpstr>
      <vt:lpstr>Calibri</vt:lpstr>
      <vt:lpstr>Goudy Old Style</vt:lpstr>
      <vt:lpstr>Wingdings 2</vt:lpstr>
      <vt:lpstr>SlateVTI</vt:lpstr>
      <vt:lpstr>  </vt:lpstr>
      <vt:lpstr>INTRODUCTION </vt:lpstr>
      <vt:lpstr>Dataset information</vt:lpstr>
      <vt:lpstr>PROBLEM STATEMENT</vt:lpstr>
      <vt:lpstr>PowerPoint Presentation</vt:lpstr>
      <vt:lpstr>KEY FINDINGS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 kadam</dc:creator>
  <cp:lastModifiedBy>harsha kadam</cp:lastModifiedBy>
  <cp:revision>1</cp:revision>
  <dcterms:created xsi:type="dcterms:W3CDTF">2025-10-30T04:12:54Z</dcterms:created>
  <dcterms:modified xsi:type="dcterms:W3CDTF">2025-10-30T05:21:39Z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